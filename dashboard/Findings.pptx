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61" r:id="rId4"/>
    <p:sldId id="266" r:id="rId5"/>
    <p:sldId id="270" r:id="rId6"/>
    <p:sldId id="276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uwe.cloud.panopto.eu/Panopto/Pages/Viewer.aspx?id=34d22f36-34bb-4a04-8f59-b43400ef3838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39D162C3-3268-4A6E-9717-AA62E75AA1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Business Intelligence and Data Visualization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4FEB439A-1CEA-4AF3-90C2-2703C259C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346862"/>
            <a:ext cx="9144000" cy="1655762"/>
          </a:xfrm>
        </p:spPr>
        <p:txBody>
          <a:bodyPr/>
          <a:lstStyle/>
          <a:p>
            <a:r>
              <a:rPr lang="en-US" dirty="0"/>
              <a:t>Layefa </a:t>
            </a:r>
            <a:r>
              <a:rPr lang="en-US" dirty="0" err="1"/>
              <a:t>Mezeh</a:t>
            </a:r>
            <a:endParaRPr lang="en-US" dirty="0"/>
          </a:p>
          <a:p>
            <a:r>
              <a:rPr lang="en-US" dirty="0"/>
              <a:t>Md Samiul Hasan</a:t>
            </a:r>
          </a:p>
          <a:p>
            <a:r>
              <a:rPr lang="en-US" dirty="0"/>
              <a:t>Prashant Timilsina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EBDC4-48F3-C4E9-FCEB-D5804BFB0442}"/>
              </a:ext>
            </a:extLst>
          </p:cNvPr>
          <p:cNvSpPr txBox="1"/>
          <p:nvPr/>
        </p:nvSpPr>
        <p:spPr>
          <a:xfrm>
            <a:off x="1200705" y="5528412"/>
            <a:ext cx="7621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Panopto link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g"/>
          <p:cNvSpPr>
            <a:spLocks noGrp="1"/>
          </p:cNvSpPr>
          <p:nvPr/>
        </p:nvSpPr>
        <p:spPr>
          <a:xfrm>
            <a:off x="0" y="0"/>
            <a:ext cx="12192000" cy="10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457200" y="100000"/>
            <a:ext cx="11277600" cy="80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Nigeria Systemic Shocks Analysis — Project Overview</a:t>
            </a:r>
          </a:p>
        </p:txBody>
      </p:sp>
      <p:sp>
        <p:nvSpPr>
          <p:cNvPr id="3" name="leftCol"/>
          <p:cNvSpPr>
            <a:spLocks noGrp="1"/>
          </p:cNvSpPr>
          <p:nvPr/>
        </p:nvSpPr>
        <p:spPr>
          <a:xfrm>
            <a:off x="304800" y="1143000"/>
            <a:ext cx="5486400" cy="5410800"/>
          </a:xfrm>
          <a:prstGeom prst="rect">
            <a:avLst/>
          </a:prstGeom>
          <a:solidFill>
            <a:srgbClr val="F2F6FB"/>
          </a:solidFill>
          <a:ln w="19050">
            <a:solidFill>
              <a:srgbClr val="1A2E4A"/>
            </a:solidFill>
          </a:ln>
        </p:spPr>
        <p:txBody>
          <a:bodyPr lIns="228600" tIns="228600" rIns="228600" bIns="228600"/>
          <a:lstStyle/>
          <a:p>
            <a:r>
              <a:rPr lang="en-US" sz="1400" b="1" dirty="0">
                <a:solidFill>
                  <a:srgbClr val="1A2E4A"/>
                </a:solidFill>
                <a:latin typeface="Calibri"/>
              </a:rPr>
              <a:t>BACKGROUND &amp; MOTIVATION</a:t>
            </a:r>
          </a:p>
          <a:p>
            <a:pPr>
              <a:lnSpc>
                <a:spcPts val="200"/>
              </a:lnSpc>
            </a:pPr>
            <a:endParaRPr dirty="0"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1A2E4A"/>
                </a:solidFill>
                <a:latin typeface="Calibri"/>
              </a:rPr>
              <a:t>Causal hypothesis: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Drought → Food Prices → Civil Unrest → GDP Decline</a:t>
            </a:r>
          </a:p>
          <a:p>
            <a:pPr>
              <a:lnSpc>
                <a:spcPts val="200"/>
              </a:lnSpc>
            </a:pPr>
            <a:endParaRPr dirty="0"/>
          </a:p>
          <a:p>
            <a:pPr>
              <a:lnSpc>
                <a:spcPts val="200"/>
              </a:lnSpc>
            </a:pPr>
            <a:endParaRPr dirty="0"/>
          </a:p>
          <a:p>
            <a:r>
              <a:rPr lang="en-US" sz="1400" b="1" dirty="0">
                <a:solidFill>
                  <a:srgbClr val="1A2E4A"/>
                </a:solidFill>
                <a:latin typeface="Calibri"/>
              </a:rPr>
              <a:t>DATA &amp; METHODOLOGY</a:t>
            </a:r>
          </a:p>
          <a:p>
            <a:pPr>
              <a:lnSpc>
                <a:spcPts val="200"/>
              </a:lnSpc>
            </a:pPr>
            <a:endParaRPr dirty="0"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1A2E4A"/>
                </a:solidFill>
                <a:latin typeface="Calibri"/>
              </a:rPr>
              <a:t>4 integrated datasets: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WFP food prices, ACLED conflict, EM-DAT disasters, World Bank GDP</a:t>
            </a:r>
          </a:p>
          <a:p>
            <a:pPr>
              <a:lnSpc>
                <a:spcPts val="200"/>
              </a:lnSpc>
            </a:pPr>
            <a:endParaRPr dirty="0"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1A2E4A"/>
                </a:solidFill>
                <a:latin typeface="Calibri"/>
              </a:rPr>
              <a:t>Master dataset: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8,269 rows, 28 variables, 14 states, Jan 2010 – Dec 2024, zero missing values</a:t>
            </a:r>
          </a:p>
          <a:p>
            <a:pPr>
              <a:lnSpc>
                <a:spcPts val="200"/>
              </a:lnSpc>
            </a:pPr>
            <a:endParaRPr dirty="0"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1A2E4A"/>
                </a:solidFill>
                <a:latin typeface="Calibri"/>
              </a:rPr>
              <a:t>ETL methodology: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Python/Jupyter Notebooks; drought augmented with Shiru et al. 2020 SPI indices</a:t>
            </a:r>
          </a:p>
        </p:txBody>
      </p:sp>
      <p:sp>
        <p:nvSpPr>
          <p:cNvPr id="4" name="rightCol"/>
          <p:cNvSpPr>
            <a:spLocks noGrp="1"/>
          </p:cNvSpPr>
          <p:nvPr/>
        </p:nvSpPr>
        <p:spPr>
          <a:xfrm>
            <a:off x="6400800" y="1143000"/>
            <a:ext cx="5486400" cy="5410800"/>
          </a:xfrm>
          <a:prstGeom prst="rect">
            <a:avLst/>
          </a:prstGeom>
          <a:solidFill>
            <a:srgbClr val="F2F6FB"/>
          </a:solidFill>
          <a:ln w="19050">
            <a:solidFill>
              <a:srgbClr val="1A2E4A"/>
            </a:solidFill>
          </a:ln>
        </p:spPr>
        <p:txBody>
          <a:bodyPr lIns="228600" tIns="228600" rIns="228600" bIns="228600"/>
          <a:lstStyle/>
          <a:p>
            <a:r>
              <a:rPr lang="en-US" sz="1400" b="1" dirty="0">
                <a:solidFill>
                  <a:srgbClr val="1A2E4A"/>
                </a:solidFill>
                <a:latin typeface="Calibri"/>
              </a:rPr>
              <a:t>KEY FINDINGS</a:t>
            </a:r>
          </a:p>
          <a:p>
            <a:pPr>
              <a:lnSpc>
                <a:spcPts val="200"/>
              </a:lnSpc>
            </a:pPr>
            <a:endParaRPr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C0392B"/>
                </a:solidFill>
                <a:latin typeface="Calibri"/>
              </a:rPr>
              <a:t>Causal chain confirmed: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Drought precedes food price rises; conflict correlates with GDP decline across 14 years</a:t>
            </a:r>
          </a:p>
          <a:p>
            <a:pPr>
              <a:lnSpc>
                <a:spcPts val="200"/>
              </a:lnSpc>
            </a:pPr>
            <a:endParaRPr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C0392B"/>
                </a:solidFill>
                <a:latin typeface="Calibri"/>
              </a:rPr>
              <a:t>1–3 month warning window: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Drought data reliably precedes price spikes, enabling early business and aid planning</a:t>
            </a:r>
          </a:p>
          <a:p>
            <a:pPr>
              <a:lnSpc>
                <a:spcPts val="200"/>
              </a:lnSpc>
            </a:pPr>
            <a:endParaRPr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C0392B"/>
                </a:solidFill>
                <a:latin typeface="Calibri"/>
              </a:rPr>
              <a:t>North–South divide: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North 1,595 NGN/kg vs South 588 NGN/kg (2024) — conflict premium built into prices</a:t>
            </a:r>
          </a:p>
          <a:p>
            <a:pPr>
              <a:lnSpc>
                <a:spcPts val="200"/>
              </a:lnSpc>
            </a:pPr>
            <a:endParaRPr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C0392B"/>
                </a:solidFill>
                <a:latin typeface="Calibri"/>
              </a:rPr>
              <a:t>Policy vs climate shocks: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2023 Naira cash crisis (policy-driven) distinguished from climate-conflict loops</a:t>
            </a:r>
          </a:p>
          <a:p>
            <a:pPr>
              <a:lnSpc>
                <a:spcPts val="200"/>
              </a:lnSpc>
            </a:pPr>
            <a:endParaRPr/>
          </a:p>
          <a:p>
            <a:pPr marL="342900" indent="-342900">
              <a:buChar char="●"/>
            </a:pPr>
            <a:r>
              <a:rPr lang="en-US" sz="1400" b="1" dirty="0">
                <a:solidFill>
                  <a:srgbClr val="C0392B"/>
                </a:solidFill>
                <a:latin typeface="Calibri"/>
              </a:rPr>
              <a:t>GDP impact: 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Peaked $7,400 (2014) → fell to ~$1,084 after 2023 Naira devaluation</a:t>
            </a:r>
          </a:p>
          <a:p>
            <a:pPr>
              <a:lnSpc>
                <a:spcPts val="400"/>
              </a:lnSpc>
            </a:pPr>
            <a:endParaRPr/>
          </a:p>
          <a:p>
            <a:r>
              <a:rPr lang="en-US" sz="1400" b="1" dirty="0">
                <a:solidFill>
                  <a:srgbClr val="1A2E4A"/>
                </a:solidFill>
                <a:latin typeface="Calibri"/>
              </a:rPr>
              <a:t>5 STAKEHOLDER DASHBOARDS</a:t>
            </a:r>
          </a:p>
          <a:p>
            <a:pPr>
              <a:lnSpc>
                <a:spcPts val="200"/>
              </a:lnSpc>
            </a:pPr>
            <a:endParaRPr/>
          </a:p>
          <a:p>
            <a:pPr marL="342900" indent="-342900"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Business Owner ▪ Red Cross ▪ Government Planner ▪ WFP Analyst ▪ Future Entrepreneur</a:t>
            </a:r>
          </a:p>
        </p:txBody>
      </p:sp>
      <p:sp>
        <p:nvSpPr>
          <p:cNvPr id="9" name="footer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="ctr"/>
          <a:lstStyle/>
          <a:p>
            <a:pPr algn="r"/>
            <a:r>
              <a:rPr lang="en-US" sz="900" dirty="0">
                <a:solidFill>
                  <a:srgbClr val="AABBCC"/>
                </a:solidFill>
                <a:latin typeface="Calibri"/>
              </a:rPr>
              <a:t>UWE Bristol ▪ Business Intelligence and Data Visualization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ashboard 1">
            <a:extLst>
              <a:ext uri="{FF2B5EF4-FFF2-40B4-BE49-F238E27FC236}">
                <a16:creationId xmlns:a16="http://schemas.microsoft.com/office/drawing/2014/main" id="{B93BFD86-D148-432F-BFCE-D426F9521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shboard 2">
            <a:extLst>
              <a:ext uri="{FF2B5EF4-FFF2-40B4-BE49-F238E27FC236}">
                <a16:creationId xmlns:a16="http://schemas.microsoft.com/office/drawing/2014/main" id="{AF879477-5094-432D-8BA6-A8887999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41" y="0"/>
            <a:ext cx="10772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Dashboard 3">
            <a:extLst>
              <a:ext uri="{FF2B5EF4-FFF2-40B4-BE49-F238E27FC236}">
                <a16:creationId xmlns:a16="http://schemas.microsoft.com/office/drawing/2014/main" id="{D07384C3-93E2-4C43-905B-334BF77F0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de21" descr="Dashboard 4">
            <a:extLst>
              <a:ext uri="{FF2B5EF4-FFF2-40B4-BE49-F238E27FC236}">
                <a16:creationId xmlns:a16="http://schemas.microsoft.com/office/drawing/2014/main" id="{FE37F35D-869A-458A-8F6F-F700F96EF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slide28" descr="Dashboard 5">
            <a:extLst>
              <a:ext uri="{FF2B5EF4-FFF2-40B4-BE49-F238E27FC236}">
                <a16:creationId xmlns:a16="http://schemas.microsoft.com/office/drawing/2014/main" id="{69961C96-D351-4EBE-B87B-B642C3D06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218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Business Intelligence and Data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Layefa Mezeh (Student)</cp:lastModifiedBy>
  <cp:revision>5</cp:revision>
  <dcterms:created xsi:type="dcterms:W3CDTF">2026-04-22T11:40:21Z</dcterms:created>
  <dcterms:modified xsi:type="dcterms:W3CDTF">2026-04-23T12:51:23Z</dcterms:modified>
</cp:coreProperties>
</file>